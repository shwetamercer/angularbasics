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7" d="100"/>
          <a:sy n="97" d="100"/>
        </p:scale>
        <p:origin x="2004" y="30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44404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to my comprehensive workflow presentation. Over the next 20 minutes, I'll walk through the complete journey from data sourcing through ETL, exploratory analysis, triangle construction, and ultimate Chain Ladder projections. The small chart shows our final ultimate projection result. (Duration: 1 minute)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our agenda covering 8 key phases of the project. We'll see how data flows from source systems through transformation, analysis, and final actuarial projections. (Duration: 30 seconds)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 captured business requirements using Agile methodology in TFS. Created Epic 'Cargo Claims Monthly Reserving Analysis' broken into Features and PBIs. Key requirement: monthly projections using Chain Ladder on 24 years of data. (Duration: 1.5 minutes)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Engaged with 6 key stakeholder groups. Weekly meetings with Chief Actuary, bi-weekly demos for Finance, collaboration with Data Engineering on ETL issues. Used TFS for transparent progress tracking. (Duration: 1.5 minutes)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Data sourced from three enterprise systems. ClaimsDB is primary source with claim financials. Policy system provides context for segmentation. RI Console tracks reinsurance - we focused on gross claims for this analysis. (Duration: 1 minute)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Data Engineering team runs nightly SSIS jobs between 11PM-2AM. Incremental loads capture only new/modified claims. Multiple validation checks at source. Raw data lands in PSA with 90-day retention for audit purposes. (Duration: 1.5 minutes)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My validation scripts caught 47 data quality issues. Formally escalated via ServiceNow ticket. Data Engineering traced 35 to database trigger bug from system upgrade. Claims Operations corrected 12 manual entry errors. Took 3 days to resolve and validate. (Duration: 2 minutes)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EDA on 3,412 claims spanning 24 years totaling $502.6M. Five-component analysis: statistics, visualizations, quality checks, outlier detection using both IQR and Z-score methods, and trend analysis. All visualizations at 300 DPI for stakeholder presentations. (Duration: 1 minute)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Distribution analysis shows right-skewed pattern typical of insurance claims - most claims are small with few large losses. Histogram, log-scale, box plot, and Q-Q plot assess normality. This informs our choice of median vs mean for factor selection. (Duration: 45 seconds)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Claims by accident year reveal volatility over time. Notice COVID-19 impact in 2020-2021, followed by supply chain crisis and inflation surge 2022-2024. This temporal pattern is critical for tail factor estimation. (Duration: 1 minute)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series shows claim emergence patterns over accident and evaluation dates. Rolling average smooths short-term volatility to reveal underlying trends. Statistically significant increasing trend (p&lt;0.05) confirmed via linear regression. (Duration: 45 seconds)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Dual-method outlier detection. IQR uses Tukey's fences (1.5×IQR from Q1/Q3) - robust to extremes. Z-score flags values &gt;3 standard deviations from mean. Red points are outliers requiring actuarial judgment - some are legitimate large losses, others were data errors escalated for correction. (Duration: 1 minute)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Triangle construction is foundation of Chain Ladder methodology. Used monthly granularity instead of yearly for more refined patterns. 270 accident months by 60 development months. Cumulative incurred claims aggregated by cohort. (Duration: 1 minute)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Heatmap visualizes the development triangle. Darker colors indicate higher cumulative claims. The diagonal edge represents evaluation date where claims are still developing. Upper-left shows mature cohorts, lower-right shows recent immature cohorts. (Duration: 45 seconds)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Development factors quantify how claims mature. Link ratio divides consecutive cumulative amounts. Filtered extreme ratios for quality. Selected median over mean for robustness to outliers. Bootstrap validation with 1000 resamples. Tail factor assumes 30% decay for future development. (Duration: 1.5 minutes)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Chain Ladder projects ultimate claims using CDFs - product of all development factors to ultimate including tail. Multiply latest cumulative by appropriate CDF for cohort's age. IBNR is difference between ultimate and latest - additional reserves required. Percent developed shows maturity level. (Duration: 1.5 minutes)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Key findings: Total ultimate $520.4M vs. reported $502.6M, requiring $17.8M additional IBNR reserves - that's 3.55% more than currently reported. Average maturity 93.21% across all cohorts. Analyzed 3,412 claims over 24 years spanning 282 development months. Statistically validated with bootstrap methods. (Duration: 1.5 minutes)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visualization shows projected ultimate claims by accident year. Notice how recent years have higher IBNR percentages due to less development time. Older years are nearly fully developed, recent years still have significant emergence expected. (Duration: 1 minute)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Executive dashboard consolidates all key metrics for senior leadership. Shows development triangles, factor selection, ultimate projections, and IBNR emergence patterns. Designed for CFO and board presentations. (Duration: 45 seconds)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IBNR emergence pattern shows how reserves develop over time. Recent accident years have higher percentages of outstanding IBNR. This pattern validates our development factor selections and tail assumptions. (Duration: 45 seconds)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Calendar year projection important for monthly financial reporting. Shows when IBNR will emerge in future accounting periods. Critical for capital planning and regulatory reporting requirements. (Duration: 45 seconds)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Comprehensive deliverables package. Analysis report references all code with line numbers. Excel workbook contains triangles and projections. All visualizations at publication quality. Full documentation in TFS and ServiceNow for audit trails. Codebase version controlled on GitHub. (Duration: 1 minute)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Significant business impact: $17.8M reserve deficiency identified, automated monthly process from 40 hours to 5 minutes, zero incremental cost using existing tools. PRA-compliant with full audit trails. Reproducible pipeline for future monthly runs. (Duration: 1.5 minutes)</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conclusion, delivered complete monthly Chain Ladder solution identifying significant reserve deficiency. Integrated enterprise data architecture with rigorous actuarial methodology. Recommendations include monthly integration, extension to other business lines, and ML enhancements. Thank you for your attention - happy to take questions. (Duration: 2 minutes)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defRPr sz="4000"/>
            </a:pPr>
            <a:r>
              <a:t>Comprehensive Analysis Workflow</a:t>
            </a:r>
          </a:p>
        </p:txBody>
      </p:sp>
      <p:sp>
        <p:nvSpPr>
          <p:cNvPr id="3" name="Subtitle 2"/>
          <p:cNvSpPr>
            <a:spLocks noGrp="1"/>
          </p:cNvSpPr>
          <p:nvPr>
            <p:ph type="subTitle" idx="1"/>
          </p:nvPr>
        </p:nvSpPr>
        <p:spPr/>
        <p:txBody>
          <a:bodyPr/>
          <a:lstStyle/>
          <a:p>
            <a:pPr>
              <a:defRPr sz="2000"/>
            </a:pPr>
            <a:r>
              <a:t>From Raw Data to Chain Ladder Projections</a:t>
            </a:r>
          </a:p>
          <a:p>
            <a:pPr>
              <a:defRPr sz="2000"/>
            </a:pPr>
            <a:r>
              <a:t>Cargo Attritional Claims Reserving Analysis</a:t>
            </a:r>
          </a:p>
          <a:p>
            <a:pPr>
              <a:defRPr sz="2000"/>
            </a:pPr>
            <a:endParaRPr/>
          </a:p>
          <a:p>
            <a:pPr>
              <a:defRPr sz="2000"/>
            </a:pPr>
            <a:r>
              <a:t>Level 4 Data Analysis Apprenticeship</a:t>
            </a:r>
          </a:p>
        </p:txBody>
      </p:sp>
      <p:pic>
        <p:nvPicPr>
          <p:cNvPr id="4" name="Picture 3" descr="forecast_projection.png"/>
          <p:cNvPicPr>
            <a:picLocks noChangeAspect="1"/>
          </p:cNvPicPr>
          <p:nvPr/>
        </p:nvPicPr>
        <p:blipFill>
          <a:blip r:embed="rId3"/>
          <a:stretch>
            <a:fillRect/>
          </a:stretch>
        </p:blipFill>
        <p:spPr>
          <a:xfrm>
            <a:off x="6858000" y="5029200"/>
            <a:ext cx="1828800" cy="136776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200"/>
            </a:pPr>
            <a:r>
              <a:t>Presentation Agenda</a:t>
            </a:r>
          </a:p>
        </p:txBody>
      </p:sp>
      <p:sp>
        <p:nvSpPr>
          <p:cNvPr id="3" name="Content Placeholder 2"/>
          <p:cNvSpPr>
            <a:spLocks noGrp="1"/>
          </p:cNvSpPr>
          <p:nvPr>
            <p:ph idx="1"/>
          </p:nvPr>
        </p:nvSpPr>
        <p:spPr/>
        <p:txBody>
          <a:bodyPr/>
          <a:lstStyle/>
          <a:p>
            <a:pPr>
              <a:defRPr sz="1600"/>
            </a:pPr>
            <a:r>
              <a:t>1. Business Requirements &amp; Stakeholder Engagement</a:t>
            </a:r>
          </a:p>
          <a:p>
            <a:pPr>
              <a:defRPr sz="1600"/>
            </a:pPr>
            <a:r>
              <a:t>2. ETL: Data Sourcing from 3 Systems</a:t>
            </a:r>
          </a:p>
          <a:p>
            <a:pPr>
              <a:defRPr sz="1600"/>
            </a:pPr>
            <a:r>
              <a:t>3. Data Quality Issue Detection &amp; Resolution</a:t>
            </a:r>
          </a:p>
          <a:p>
            <a:pPr>
              <a:defRPr sz="1600"/>
            </a:pPr>
            <a:r>
              <a:t>4. Exploratory Data Analysis (EDA)</a:t>
            </a:r>
          </a:p>
          <a:p>
            <a:pPr>
              <a:defRPr sz="1600"/>
            </a:pPr>
            <a:r>
              <a:t>5. Triangle Construction Methodology</a:t>
            </a:r>
          </a:p>
          <a:p>
            <a:pPr>
              <a:defRPr sz="1600"/>
            </a:pPr>
            <a:r>
              <a:t>6. Development Factor Calculation</a:t>
            </a:r>
          </a:p>
          <a:p>
            <a:pPr>
              <a:defRPr sz="1600"/>
            </a:pPr>
            <a:r>
              <a:t>7. Chain Ladder Projections &amp; Results</a:t>
            </a:r>
          </a:p>
          <a:p>
            <a:pPr>
              <a:defRPr sz="1600"/>
            </a:pPr>
            <a:r>
              <a:t>8. Final Report &amp; Business Impact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200"/>
            </a:pPr>
            <a:r>
              <a:t>Business Requirements Gathering</a:t>
            </a:r>
          </a:p>
        </p:txBody>
      </p:sp>
      <p:sp>
        <p:nvSpPr>
          <p:cNvPr id="3" name="Content Placeholder 2"/>
          <p:cNvSpPr>
            <a:spLocks noGrp="1"/>
          </p:cNvSpPr>
          <p:nvPr>
            <p:ph idx="1"/>
          </p:nvPr>
        </p:nvSpPr>
        <p:spPr/>
        <p:txBody>
          <a:bodyPr/>
          <a:lstStyle/>
          <a:p>
            <a:pPr>
              <a:defRPr sz="1600"/>
            </a:pPr>
            <a:r>
              <a:t>Agile Methodology: Epic → Features → Product Backlog Items (PBI)</a:t>
            </a:r>
          </a:p>
          <a:p>
            <a:pPr>
              <a:defRPr sz="1600"/>
            </a:pPr>
            <a:r>
              <a:t>Team Foundation Server (TFS) for requirement tracking</a:t>
            </a:r>
          </a:p>
          <a:p>
            <a:pPr>
              <a:defRPr sz="1600"/>
            </a:pPr>
            <a:r>
              <a:t>Sprint Planning: 2-week sprints with backlog refinement</a:t>
            </a:r>
          </a:p>
          <a:p>
            <a:pPr>
              <a:defRPr sz="1600"/>
            </a:pPr>
            <a:r>
              <a:t>Daily Standups: Progress updates and blocker identification</a:t>
            </a:r>
          </a:p>
          <a:p>
            <a:pPr>
              <a:defRPr sz="1600"/>
            </a:pPr>
            <a:r>
              <a:t>Key Requirements:</a:t>
            </a:r>
          </a:p>
          <a:p>
            <a:pPr>
              <a:defRPr sz="1600"/>
            </a:pPr>
            <a:r>
              <a:t>  • Monthly cargo claims reserve projections (vs. annual only)</a:t>
            </a:r>
          </a:p>
          <a:p>
            <a:pPr>
              <a:defRPr sz="1600"/>
            </a:pPr>
            <a:r>
              <a:t>  • Chain Ladder methodology with 24 years historical data</a:t>
            </a:r>
          </a:p>
          <a:p>
            <a:pPr>
              <a:defRPr sz="1600"/>
            </a:pPr>
            <a:r>
              <a:t>  • Automated, reproducible Python pipeline</a:t>
            </a:r>
          </a:p>
          <a:p>
            <a:pPr>
              <a:defRPr sz="1600"/>
            </a:pPr>
            <a:r>
              <a:t>  • PRA-compliant methodology with audit trails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200"/>
            </a:pPr>
            <a:r>
              <a:t>Stakeholder Engagement</a:t>
            </a:r>
          </a:p>
        </p:txBody>
      </p:sp>
      <p:sp>
        <p:nvSpPr>
          <p:cNvPr id="3" name="Content Placeholder 2"/>
          <p:cNvSpPr>
            <a:spLocks noGrp="1"/>
          </p:cNvSpPr>
          <p:nvPr>
            <p:ph idx="1"/>
          </p:nvPr>
        </p:nvSpPr>
        <p:spPr/>
        <p:txBody>
          <a:bodyPr/>
          <a:lstStyle/>
          <a:p>
            <a:pPr>
              <a:defRPr sz="1600"/>
            </a:pPr>
            <a:r>
              <a:rPr dirty="0"/>
              <a:t>Chief Actuary: Project sponsor, methodology approval</a:t>
            </a:r>
          </a:p>
          <a:p>
            <a:pPr>
              <a:defRPr sz="1600"/>
            </a:pPr>
            <a:r>
              <a:rPr dirty="0"/>
              <a:t>Senior Actuaries: Technical validation and peer review</a:t>
            </a:r>
          </a:p>
          <a:p>
            <a:pPr>
              <a:defRPr sz="1600"/>
            </a:pPr>
            <a:r>
              <a:rPr dirty="0"/>
              <a:t>Data Engineering: ETL pipeline support and data quality</a:t>
            </a:r>
          </a:p>
          <a:p>
            <a:pPr>
              <a:defRPr sz="1600"/>
            </a:pPr>
            <a:r>
              <a:rPr dirty="0"/>
              <a:t>Claims Operations: Data entry error corrections</a:t>
            </a:r>
          </a:p>
          <a:p>
            <a:pPr>
              <a:defRPr sz="1600"/>
            </a:pPr>
            <a:r>
              <a:rPr dirty="0"/>
              <a:t>Regulators (PRA): Compliance validation</a:t>
            </a:r>
          </a:p>
          <a:p>
            <a:pPr>
              <a:defRPr sz="1600"/>
            </a:pPr>
            <a:r>
              <a:rPr dirty="0"/>
              <a:t>Engagement Approach:</a:t>
            </a:r>
          </a:p>
          <a:p>
            <a:pPr>
              <a:defRPr sz="1600"/>
            </a:pPr>
            <a:r>
              <a:rPr dirty="0"/>
              <a:t>  • Weekly status meetings with Chief Actuary</a:t>
            </a:r>
          </a:p>
          <a:p>
            <a:pPr>
              <a:defRPr sz="1600"/>
            </a:pPr>
            <a:r>
              <a:rPr dirty="0"/>
              <a:t>  • Bi-weekly demos for Finance stakeholders</a:t>
            </a:r>
          </a:p>
          <a:p>
            <a:pPr>
              <a:defRPr sz="1600"/>
            </a:pPr>
            <a:r>
              <a:rPr dirty="0"/>
              <a:t>  • TFS work item updates with progress tracking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200"/>
            </a:pPr>
            <a:r>
              <a:t>ETL Phase 0: Data Sourcing from 3 Systems</a:t>
            </a:r>
          </a:p>
        </p:txBody>
      </p:sp>
      <p:sp>
        <p:nvSpPr>
          <p:cNvPr id="3" name="Content Placeholder 2"/>
          <p:cNvSpPr>
            <a:spLocks noGrp="1"/>
          </p:cNvSpPr>
          <p:nvPr>
            <p:ph idx="1"/>
          </p:nvPr>
        </p:nvSpPr>
        <p:spPr/>
        <p:txBody>
          <a:bodyPr/>
          <a:lstStyle/>
          <a:p>
            <a:pPr>
              <a:defRPr sz="1600"/>
            </a:pPr>
            <a:r>
              <a:t>Source System 1: Claims Management System (ClaimsDB)</a:t>
            </a:r>
          </a:p>
          <a:p>
            <a:pPr>
              <a:defRPr sz="1600"/>
            </a:pPr>
            <a:r>
              <a:t>  • SQL Server 2019 - Core claim transactions</a:t>
            </a:r>
          </a:p>
          <a:p>
            <a:pPr>
              <a:defRPr sz="1600"/>
            </a:pPr>
            <a:r>
              <a:t>  • Tables: dbo.Claims, dbo.ClaimTransactions, dbo.ClaimReserves</a:t>
            </a:r>
          </a:p>
          <a:p>
            <a:pPr>
              <a:defRPr sz="1600"/>
            </a:pPr>
            <a:r>
              <a:t>  • Fields: ClaimID, AccidentDate, amounts (incurred/paid/outstanding)</a:t>
            </a:r>
          </a:p>
          <a:p>
            <a:pPr>
              <a:defRPr sz="1600"/>
            </a:pPr>
            <a:endParaRPr/>
          </a:p>
          <a:p>
            <a:pPr>
              <a:defRPr sz="1600"/>
            </a:pPr>
            <a:r>
              <a:t>Source System 2: Policy Administration (SubscribeDB)</a:t>
            </a:r>
          </a:p>
          <a:p>
            <a:pPr>
              <a:defRPr sz="1600"/>
            </a:pPr>
            <a:r>
              <a:t>  • Policy details, coverage limits, vessel information</a:t>
            </a:r>
          </a:p>
          <a:p>
            <a:pPr>
              <a:defRPr sz="1600"/>
            </a:pPr>
            <a:r>
              <a:t>  • Enables segmentation and exposure analysis</a:t>
            </a:r>
          </a:p>
          <a:p>
            <a:pPr>
              <a:defRPr sz="1600"/>
            </a:pPr>
            <a:endParaRPr/>
          </a:p>
          <a:p>
            <a:pPr>
              <a:defRPr sz="1600"/>
            </a:pPr>
            <a:r>
              <a:t>Source System 3: Reinsurance Console (RI Console)</a:t>
            </a:r>
          </a:p>
          <a:p>
            <a:pPr>
              <a:defRPr sz="1600"/>
            </a:pPr>
            <a:r>
              <a:t>  • Reinsurance treaties and cession percentages</a:t>
            </a:r>
          </a:p>
          <a:p>
            <a:pPr>
              <a:defRPr sz="1600"/>
            </a:pPr>
            <a:r>
              <a:t>  • Focus: Gross claims (before reinsurance)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200"/>
            </a:pPr>
            <a:r>
              <a:t>ETL Extraction &amp; Persistent Staging Area</a:t>
            </a:r>
          </a:p>
        </p:txBody>
      </p:sp>
      <p:sp>
        <p:nvSpPr>
          <p:cNvPr id="3" name="Content Placeholder 2"/>
          <p:cNvSpPr>
            <a:spLocks noGrp="1"/>
          </p:cNvSpPr>
          <p:nvPr>
            <p:ph idx="1"/>
          </p:nvPr>
        </p:nvSpPr>
        <p:spPr/>
        <p:txBody>
          <a:bodyPr/>
          <a:lstStyle/>
          <a:p>
            <a:pPr>
              <a:defRPr sz="1600"/>
            </a:pPr>
            <a:r>
              <a:rPr dirty="0"/>
              <a:t>Nightly SSIS Packages</a:t>
            </a:r>
          </a:p>
          <a:p>
            <a:pPr>
              <a:defRPr sz="1600"/>
            </a:pPr>
            <a:r>
              <a:rPr dirty="0"/>
              <a:t>Incremental Load Logic: </a:t>
            </a:r>
            <a:r>
              <a:rPr dirty="0" err="1"/>
              <a:t>LastModifiedDate</a:t>
            </a:r>
            <a:r>
              <a:rPr dirty="0"/>
              <a:t> tracking</a:t>
            </a:r>
          </a:p>
          <a:p>
            <a:pPr>
              <a:defRPr sz="1600"/>
            </a:pPr>
            <a:r>
              <a:rPr dirty="0"/>
              <a:t>Source Validations:</a:t>
            </a:r>
          </a:p>
          <a:p>
            <a:pPr>
              <a:defRPr sz="1600"/>
            </a:pPr>
            <a:r>
              <a:rPr dirty="0"/>
              <a:t>  • NOT NULL checks on critical fields</a:t>
            </a:r>
          </a:p>
          <a:p>
            <a:pPr>
              <a:defRPr sz="1600"/>
            </a:pPr>
            <a:r>
              <a:rPr dirty="0"/>
              <a:t>  • Referential integrity (every claim → valid policy)</a:t>
            </a:r>
          </a:p>
          <a:p>
            <a:pPr>
              <a:defRPr sz="1600"/>
            </a:pPr>
            <a:r>
              <a:rPr dirty="0"/>
              <a:t>  • Business rules: </a:t>
            </a:r>
            <a:r>
              <a:rPr dirty="0" err="1"/>
              <a:t>AccidentDate</a:t>
            </a:r>
            <a:r>
              <a:rPr dirty="0"/>
              <a:t> ≤ </a:t>
            </a:r>
            <a:r>
              <a:rPr dirty="0" err="1"/>
              <a:t>EvaluationDate</a:t>
            </a:r>
            <a:endParaRPr dirty="0"/>
          </a:p>
          <a:p>
            <a:pPr>
              <a:defRPr sz="1600"/>
            </a:pPr>
            <a:r>
              <a:rPr dirty="0"/>
              <a:t>  • Consistency: </a:t>
            </a:r>
            <a:r>
              <a:rPr dirty="0" err="1"/>
              <a:t>SynIncAdjd</a:t>
            </a:r>
            <a:r>
              <a:rPr dirty="0"/>
              <a:t> = </a:t>
            </a:r>
            <a:r>
              <a:rPr dirty="0" err="1"/>
              <a:t>SynPTDAdjd</a:t>
            </a:r>
            <a:r>
              <a:rPr dirty="0"/>
              <a:t> + </a:t>
            </a:r>
            <a:r>
              <a:rPr dirty="0" err="1"/>
              <a:t>SynOsAdjd</a:t>
            </a:r>
            <a:endParaRPr dirty="0"/>
          </a:p>
          <a:p>
            <a:pPr>
              <a:defRPr sz="1600"/>
            </a:pPr>
            <a:endParaRPr dirty="0"/>
          </a:p>
          <a:p>
            <a:pPr>
              <a:defRPr sz="1600"/>
            </a:pPr>
            <a:r>
              <a:rPr dirty="0"/>
              <a:t>Persistent Staging Area (PSA):</a:t>
            </a:r>
          </a:p>
          <a:p>
            <a:pPr>
              <a:defRPr sz="1600"/>
            </a:pPr>
            <a:r>
              <a:rPr dirty="0"/>
              <a:t>  • Schema: PSA</a:t>
            </a:r>
          </a:p>
          <a:p>
            <a:pPr>
              <a:defRPr sz="1600"/>
            </a:pPr>
            <a:r>
              <a:rPr dirty="0"/>
              <a:t>  • Raw data preserved as received from source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200"/>
            </a:pPr>
            <a:r>
              <a:t>Data Quality Issue Detection &amp; Resolution</a:t>
            </a:r>
          </a:p>
        </p:txBody>
      </p:sp>
      <p:sp>
        <p:nvSpPr>
          <p:cNvPr id="3" name="Content Placeholder 2"/>
          <p:cNvSpPr>
            <a:spLocks noGrp="1"/>
          </p:cNvSpPr>
          <p:nvPr>
            <p:ph idx="1"/>
          </p:nvPr>
        </p:nvSpPr>
        <p:spPr/>
        <p:txBody>
          <a:bodyPr/>
          <a:lstStyle/>
          <a:p>
            <a:pPr>
              <a:defRPr sz="1600"/>
            </a:pPr>
            <a:r>
              <a:rPr dirty="0"/>
              <a:t>Anomalies Identified in First Extraction:</a:t>
            </a:r>
          </a:p>
          <a:p>
            <a:pPr>
              <a:defRPr sz="1600"/>
            </a:pPr>
            <a:r>
              <a:rPr lang="en-GB" dirty="0"/>
              <a:t> </a:t>
            </a:r>
            <a:r>
              <a:rPr dirty="0"/>
              <a:t>• negative claim amounts</a:t>
            </a:r>
          </a:p>
          <a:p>
            <a:pPr>
              <a:defRPr sz="1600"/>
            </a:pPr>
            <a:r>
              <a:rPr dirty="0"/>
              <a:t>  •  inconsistent status codes (closed with outstanding &gt; 0)</a:t>
            </a:r>
          </a:p>
          <a:p>
            <a:pPr>
              <a:defRPr sz="1600"/>
            </a:pPr>
            <a:r>
              <a:rPr dirty="0"/>
              <a:t>  •  invalid development months (exceeded policy maturity)</a:t>
            </a:r>
          </a:p>
          <a:p>
            <a:pPr>
              <a:defRPr sz="1600"/>
            </a:pPr>
            <a:endParaRPr dirty="0"/>
          </a:p>
          <a:p>
            <a:pPr>
              <a:defRPr sz="1600"/>
            </a:pPr>
            <a:r>
              <a:rPr dirty="0"/>
              <a:t>Escalation:</a:t>
            </a:r>
            <a:r>
              <a:rPr lang="en-GB" dirty="0"/>
              <a:t>TFS Incident tickets</a:t>
            </a:r>
            <a:endParaRPr dirty="0"/>
          </a:p>
          <a:p>
            <a:pPr>
              <a:defRPr sz="1600"/>
            </a:pPr>
            <a:r>
              <a:rPr dirty="0"/>
              <a:t>Root Cause Analysis:</a:t>
            </a:r>
          </a:p>
          <a:p>
            <a:pPr>
              <a:defRPr sz="1600"/>
            </a:pPr>
            <a:r>
              <a:rPr dirty="0"/>
              <a:t>  • issues: Database trigger malfunction (Oct 15 upgrade)</a:t>
            </a:r>
          </a:p>
          <a:p>
            <a:pPr>
              <a:defRPr sz="1600"/>
            </a:pPr>
            <a:r>
              <a:rPr dirty="0"/>
              <a:t>  • issues: Manual data entry errors by claims handlers</a:t>
            </a:r>
          </a:p>
          <a:p>
            <a:pPr>
              <a:defRPr sz="1600"/>
            </a:pPr>
            <a:endParaRPr dirty="0"/>
          </a:p>
          <a:p>
            <a:pPr>
              <a:defRPr sz="1600"/>
            </a:pPr>
            <a:r>
              <a:rPr dirty="0"/>
              <a:t>Resolution: 3 business days, validated with zero anomalies</a:t>
            </a:r>
          </a:p>
          <a:p>
            <a:pPr>
              <a:defRPr sz="1600"/>
            </a:pPr>
            <a:r>
              <a:rPr dirty="0"/>
              <a:t>Documentation: TFS PBI- with lessons learned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200"/>
            </a:pPr>
            <a:r>
              <a:t>Exploratory Data Analysis (EDA) Overview</a:t>
            </a:r>
          </a:p>
        </p:txBody>
      </p:sp>
      <p:sp>
        <p:nvSpPr>
          <p:cNvPr id="3" name="Content Placeholder 2"/>
          <p:cNvSpPr>
            <a:spLocks noGrp="1"/>
          </p:cNvSpPr>
          <p:nvPr>
            <p:ph idx="1"/>
          </p:nvPr>
        </p:nvSpPr>
        <p:spPr/>
        <p:txBody>
          <a:bodyPr/>
          <a:lstStyle/>
          <a:p>
            <a:pPr>
              <a:defRPr sz="1600"/>
            </a:pPr>
            <a:r>
              <a:rPr dirty="0"/>
              <a:t>Dataset: cargo_triangle_raw_data.xlsx</a:t>
            </a:r>
          </a:p>
          <a:p>
            <a:pPr>
              <a:defRPr sz="1600"/>
            </a:pPr>
            <a:r>
              <a:rPr dirty="0"/>
              <a:t>  • 3,412 historical claims records</a:t>
            </a:r>
          </a:p>
          <a:p>
            <a:pPr>
              <a:defRPr sz="1600"/>
            </a:pPr>
            <a:r>
              <a:rPr dirty="0"/>
              <a:t>  • Accident years 2002-2024 (24 years)</a:t>
            </a:r>
          </a:p>
          <a:p>
            <a:pPr>
              <a:defRPr sz="1600"/>
            </a:pPr>
            <a:r>
              <a:rPr dirty="0"/>
              <a:t>  • Total claims: $502.6M reported, $520.4M ultimate</a:t>
            </a:r>
          </a:p>
          <a:p>
            <a:pPr>
              <a:defRPr sz="1600"/>
            </a:pPr>
            <a:endParaRPr dirty="0"/>
          </a:p>
          <a:p>
            <a:pPr>
              <a:defRPr sz="1600"/>
            </a:pPr>
            <a:r>
              <a:rPr dirty="0"/>
              <a:t>EDA Components:</a:t>
            </a:r>
          </a:p>
          <a:p>
            <a:pPr>
              <a:defRPr sz="1600"/>
            </a:pPr>
            <a:r>
              <a:rPr dirty="0"/>
              <a:t>  1. Statistical Analysis: Mean, median, std dev, percentiles</a:t>
            </a:r>
          </a:p>
          <a:p>
            <a:pPr>
              <a:defRPr sz="1600"/>
            </a:pPr>
            <a:r>
              <a:rPr dirty="0"/>
              <a:t>  2. Visualizations Distribution, trends, heatmaps</a:t>
            </a:r>
          </a:p>
          <a:p>
            <a:pPr>
              <a:defRPr sz="1600"/>
            </a:pPr>
            <a:r>
              <a:rPr dirty="0"/>
              <a:t>  3. Data Quality Checks: Missing values, duplicates</a:t>
            </a:r>
          </a:p>
          <a:p>
            <a:pPr>
              <a:defRPr sz="1600"/>
            </a:pPr>
            <a:r>
              <a:rPr dirty="0"/>
              <a:t>  4. Outlier Detection: IQR (Tukey's fences) + Z-score (|z|&gt;3)</a:t>
            </a:r>
          </a:p>
          <a:p>
            <a:pPr>
              <a:defRPr sz="1600"/>
            </a:pPr>
            <a:r>
              <a:rPr dirty="0"/>
              <a:t>  5. Trend Analysis: Linear regression with statistical significance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457200"/>
          </a:xfrm>
          <a:prstGeom prst="rect">
            <a:avLst/>
          </a:prstGeom>
          <a:noFill/>
        </p:spPr>
        <p:txBody>
          <a:bodyPr wrap="none">
            <a:spAutoFit/>
          </a:bodyPr>
          <a:lstStyle/>
          <a:p>
            <a:pPr algn="ctr">
              <a:defRPr sz="2400" b="1"/>
            </a:pPr>
            <a:r>
              <a:t>Claims Amount Distribution Analysis</a:t>
            </a:r>
          </a:p>
        </p:txBody>
      </p:sp>
      <p:pic>
        <p:nvPicPr>
          <p:cNvPr id="3" name="Picture 2" descr="01_claims_distribution.png"/>
          <p:cNvPicPr>
            <a:picLocks noChangeAspect="1"/>
          </p:cNvPicPr>
          <p:nvPr/>
        </p:nvPicPr>
        <p:blipFill>
          <a:blip r:embed="rId3"/>
          <a:stretch>
            <a:fillRect/>
          </a:stretch>
        </p:blipFill>
        <p:spPr>
          <a:xfrm>
            <a:off x="914400" y="1097280"/>
            <a:ext cx="7315200" cy="546950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457200"/>
          </a:xfrm>
          <a:prstGeom prst="rect">
            <a:avLst/>
          </a:prstGeom>
          <a:noFill/>
        </p:spPr>
        <p:txBody>
          <a:bodyPr wrap="none">
            <a:spAutoFit/>
          </a:bodyPr>
          <a:lstStyle/>
          <a:p>
            <a:pPr algn="ctr">
              <a:defRPr sz="2400" b="1"/>
            </a:pPr>
            <a:r>
              <a:t>Claims by Accident Year - Trend Analysis</a:t>
            </a:r>
          </a:p>
        </p:txBody>
      </p:sp>
      <p:pic>
        <p:nvPicPr>
          <p:cNvPr id="3" name="Picture 2" descr="02_claims_by_accident_year.png"/>
          <p:cNvPicPr>
            <a:picLocks noChangeAspect="1"/>
          </p:cNvPicPr>
          <p:nvPr/>
        </p:nvPicPr>
        <p:blipFill>
          <a:blip r:embed="rId3"/>
          <a:stretch>
            <a:fillRect/>
          </a:stretch>
        </p:blipFill>
        <p:spPr>
          <a:xfrm>
            <a:off x="914400" y="1097280"/>
            <a:ext cx="7315200" cy="546950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457200"/>
          </a:xfrm>
          <a:prstGeom prst="rect">
            <a:avLst/>
          </a:prstGeom>
          <a:noFill/>
        </p:spPr>
        <p:txBody>
          <a:bodyPr wrap="none">
            <a:spAutoFit/>
          </a:bodyPr>
          <a:lstStyle/>
          <a:p>
            <a:pPr algn="ctr">
              <a:defRPr sz="2400" b="1"/>
            </a:pPr>
            <a:r>
              <a:t>Time Series Analysis - Temporal Patterns</a:t>
            </a:r>
          </a:p>
        </p:txBody>
      </p:sp>
      <p:pic>
        <p:nvPicPr>
          <p:cNvPr id="3" name="Picture 2" descr="06_time_series.png"/>
          <p:cNvPicPr>
            <a:picLocks noChangeAspect="1"/>
          </p:cNvPicPr>
          <p:nvPr/>
        </p:nvPicPr>
        <p:blipFill>
          <a:blip r:embed="rId3"/>
          <a:stretch>
            <a:fillRect/>
          </a:stretch>
        </p:blipFill>
        <p:spPr>
          <a:xfrm>
            <a:off x="914400" y="1097280"/>
            <a:ext cx="7315200" cy="546950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457200"/>
          </a:xfrm>
          <a:prstGeom prst="rect">
            <a:avLst/>
          </a:prstGeom>
          <a:noFill/>
        </p:spPr>
        <p:txBody>
          <a:bodyPr wrap="none">
            <a:spAutoFit/>
          </a:bodyPr>
          <a:lstStyle/>
          <a:p>
            <a:pPr algn="ctr">
              <a:defRPr sz="2400" b="1"/>
            </a:pPr>
            <a:r>
              <a:t>Outlier Detection: IQR + Z-Score Methods</a:t>
            </a:r>
          </a:p>
        </p:txBody>
      </p:sp>
      <p:pic>
        <p:nvPicPr>
          <p:cNvPr id="3" name="Picture 2" descr="SynIncAdjd_outliers.png"/>
          <p:cNvPicPr>
            <a:picLocks noChangeAspect="1"/>
          </p:cNvPicPr>
          <p:nvPr/>
        </p:nvPicPr>
        <p:blipFill>
          <a:blip r:embed="rId3"/>
          <a:stretch>
            <a:fillRect/>
          </a:stretch>
        </p:blipFill>
        <p:spPr>
          <a:xfrm>
            <a:off x="914400" y="1097280"/>
            <a:ext cx="7315200" cy="242254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200"/>
            </a:pPr>
            <a:r>
              <a:t>Triangle Construction Methodology</a:t>
            </a:r>
          </a:p>
        </p:txBody>
      </p:sp>
      <p:sp>
        <p:nvSpPr>
          <p:cNvPr id="3" name="Content Placeholder 2"/>
          <p:cNvSpPr>
            <a:spLocks noGrp="1"/>
          </p:cNvSpPr>
          <p:nvPr>
            <p:ph idx="1"/>
          </p:nvPr>
        </p:nvSpPr>
        <p:spPr/>
        <p:txBody>
          <a:bodyPr/>
          <a:lstStyle/>
          <a:p>
            <a:pPr>
              <a:defRPr sz="1600"/>
            </a:pPr>
            <a:r>
              <a:t>Monthly Development Triangles (vs. traditional yearly)</a:t>
            </a:r>
          </a:p>
          <a:p>
            <a:pPr>
              <a:defRPr sz="1600"/>
            </a:pPr>
            <a:endParaRPr/>
          </a:p>
          <a:p>
            <a:pPr>
              <a:defRPr sz="1600"/>
            </a:pPr>
            <a:r>
              <a:t>Structure:</a:t>
            </a:r>
          </a:p>
          <a:p>
            <a:pPr>
              <a:defRPr sz="1600"/>
            </a:pPr>
            <a:r>
              <a:t>  • Rows: Accident year-months (270 cohorts)</a:t>
            </a:r>
          </a:p>
          <a:p>
            <a:pPr>
              <a:defRPr sz="1600"/>
            </a:pPr>
            <a:r>
              <a:t>  • Columns: Development months (60 displayed)</a:t>
            </a:r>
          </a:p>
          <a:p>
            <a:pPr>
              <a:defRPr sz="1600"/>
            </a:pPr>
            <a:r>
              <a:t>  • Cells: Cumulative incurred claims (SynIncAdjd)</a:t>
            </a:r>
          </a:p>
          <a:p>
            <a:pPr>
              <a:defRPr sz="1600"/>
            </a:pPr>
            <a:endParaRPr/>
          </a:p>
          <a:p>
            <a:pPr>
              <a:defRPr sz="1600"/>
            </a:pPr>
            <a:r>
              <a:t>Formula: DevMonths = (EvalYear - AccYear) × 12 + (EvalMonth - AccMonth)</a:t>
            </a:r>
          </a:p>
          <a:p>
            <a:pPr>
              <a:defRPr sz="1600"/>
            </a:pPr>
            <a:endParaRPr/>
          </a:p>
          <a:p>
            <a:pPr>
              <a:defRPr sz="1600"/>
            </a:pPr>
            <a:r>
              <a:t>Aggregation: Sum claims by accident year-month and development month</a:t>
            </a:r>
          </a:p>
          <a:p>
            <a:pPr>
              <a:defRPr sz="1600"/>
            </a:pPr>
            <a:r>
              <a:t>Transformation: Convert incremental to cumulative with .cumsum(axis=1)</a:t>
            </a:r>
          </a:p>
          <a:p>
            <a:pPr>
              <a:defRPr sz="1600"/>
            </a:pPr>
            <a:endParaRPr/>
          </a:p>
          <a:p>
            <a:pPr>
              <a:defRPr sz="1600"/>
            </a:pPr>
            <a:r>
              <a:t>Benefit: Monthly granularity provides more refined development patterns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457200"/>
          </a:xfrm>
          <a:prstGeom prst="rect">
            <a:avLst/>
          </a:prstGeom>
          <a:noFill/>
        </p:spPr>
        <p:txBody>
          <a:bodyPr wrap="none">
            <a:spAutoFit/>
          </a:bodyPr>
          <a:lstStyle/>
          <a:p>
            <a:pPr algn="ctr">
              <a:defRPr sz="2400" b="1"/>
            </a:pPr>
            <a:r>
              <a:t>Development Triangle Heatmap</a:t>
            </a:r>
          </a:p>
        </p:txBody>
      </p:sp>
      <p:pic>
        <p:nvPicPr>
          <p:cNvPr id="3" name="Picture 2" descr="development_heatmap.png"/>
          <p:cNvPicPr>
            <a:picLocks noChangeAspect="1"/>
          </p:cNvPicPr>
          <p:nvPr/>
        </p:nvPicPr>
        <p:blipFill>
          <a:blip r:embed="rId3"/>
          <a:stretch>
            <a:fillRect/>
          </a:stretch>
        </p:blipFill>
        <p:spPr>
          <a:xfrm>
            <a:off x="914400" y="1097280"/>
            <a:ext cx="7315200" cy="501092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200"/>
            </a:pPr>
            <a:r>
              <a:t>Development Factor Calculation</a:t>
            </a:r>
          </a:p>
        </p:txBody>
      </p:sp>
      <p:sp>
        <p:nvSpPr>
          <p:cNvPr id="3" name="Content Placeholder 2"/>
          <p:cNvSpPr>
            <a:spLocks noGrp="1"/>
          </p:cNvSpPr>
          <p:nvPr>
            <p:ph idx="1"/>
          </p:nvPr>
        </p:nvSpPr>
        <p:spPr/>
        <p:txBody>
          <a:bodyPr/>
          <a:lstStyle/>
          <a:p>
            <a:pPr>
              <a:defRPr sz="1600"/>
            </a:pPr>
            <a:r>
              <a:t>Age-to-Age Link Ratios:</a:t>
            </a:r>
          </a:p>
          <a:p>
            <a:pPr>
              <a:defRPr sz="1600"/>
            </a:pPr>
            <a:r>
              <a:t>  • Formula: Factor(t→t+1) = CumulativeClaims(t+1) / CumulativeClaims(t)</a:t>
            </a:r>
          </a:p>
          <a:p>
            <a:pPr>
              <a:defRPr sz="1600"/>
            </a:pPr>
            <a:r>
              <a:t>  • Calculated for each adjacent development month pair</a:t>
            </a:r>
          </a:p>
          <a:p>
            <a:pPr>
              <a:defRPr sz="1600"/>
            </a:pPr>
            <a:endParaRPr/>
          </a:p>
          <a:p>
            <a:pPr>
              <a:defRPr sz="1600"/>
            </a:pPr>
            <a:r>
              <a:t>Filtering: Exclude ratios &lt; 0.5 or &gt; 3.0 (data quality)</a:t>
            </a:r>
          </a:p>
          <a:p>
            <a:pPr>
              <a:defRPr sz="1600"/>
            </a:pPr>
            <a:endParaRPr/>
          </a:p>
          <a:p>
            <a:pPr>
              <a:defRPr sz="1600"/>
            </a:pPr>
            <a:r>
              <a:t>Factor Selection: Median vs. Mean</a:t>
            </a:r>
          </a:p>
          <a:p>
            <a:pPr>
              <a:defRPr sz="1600"/>
            </a:pPr>
            <a:r>
              <a:t>  • Chosen: Median (robust to outliers)</a:t>
            </a:r>
          </a:p>
          <a:p>
            <a:pPr>
              <a:defRPr sz="1600"/>
            </a:pPr>
            <a:r>
              <a:t>  • Alternative: Simple average for comparison</a:t>
            </a:r>
          </a:p>
          <a:p>
            <a:pPr>
              <a:defRPr sz="1600"/>
            </a:pPr>
            <a:endParaRPr/>
          </a:p>
          <a:p>
            <a:pPr>
              <a:defRPr sz="1600"/>
            </a:pPr>
            <a:r>
              <a:t>Validation: 1,000 bootstrap resamples for confidence intervals</a:t>
            </a:r>
          </a:p>
          <a:p>
            <a:pPr>
              <a:defRPr sz="1600"/>
            </a:pPr>
            <a:endParaRPr/>
          </a:p>
          <a:p>
            <a:pPr>
              <a:defRPr sz="1600"/>
            </a:pPr>
            <a:r>
              <a:t>Tail Factor: 30% decay assumption, bounded [1.0, 1.05]</a:t>
            </a:r>
          </a:p>
          <a:p>
            <a:pPr>
              <a:defRPr sz="1600"/>
            </a:pPr>
            <a:r>
              <a:t>  • Formula: 1.0 + (avg_factor - 1.0) × 0.3</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200"/>
            </a:pPr>
            <a:r>
              <a:t>Chain Ladder Projection Methodology</a:t>
            </a:r>
          </a:p>
        </p:txBody>
      </p:sp>
      <p:sp>
        <p:nvSpPr>
          <p:cNvPr id="3" name="Content Placeholder 2"/>
          <p:cNvSpPr>
            <a:spLocks noGrp="1"/>
          </p:cNvSpPr>
          <p:nvPr>
            <p:ph idx="1"/>
          </p:nvPr>
        </p:nvSpPr>
        <p:spPr/>
        <p:txBody>
          <a:bodyPr/>
          <a:lstStyle/>
          <a:p>
            <a:pPr>
              <a:defRPr sz="1600"/>
            </a:pPr>
            <a:r>
              <a:t>Cumulative Development Factors (CDFs):</a:t>
            </a:r>
          </a:p>
          <a:p>
            <a:pPr>
              <a:defRPr sz="1600"/>
            </a:pPr>
            <a:r>
              <a:t>  • CDF = Product of all factors from dev month to ultimate</a:t>
            </a:r>
          </a:p>
          <a:p>
            <a:pPr>
              <a:defRPr sz="1600"/>
            </a:pPr>
            <a:r>
              <a:t>  • Includes tail factor for development beyond observed data</a:t>
            </a:r>
          </a:p>
          <a:p>
            <a:pPr>
              <a:defRPr sz="1600"/>
            </a:pPr>
            <a:r>
              <a:t>  • Example: CDF=1.50 at 12 months means 50% more development</a:t>
            </a:r>
          </a:p>
          <a:p>
            <a:pPr>
              <a:defRPr sz="1600"/>
            </a:pPr>
            <a:endParaRPr/>
          </a:p>
          <a:p>
            <a:pPr>
              <a:defRPr sz="1600"/>
            </a:pPr>
            <a:r>
              <a:t>Ultimate Projection:</a:t>
            </a:r>
          </a:p>
          <a:p>
            <a:pPr>
              <a:defRPr sz="1600"/>
            </a:pPr>
            <a:r>
              <a:t>  • Formula: Ultimate = Latest × CDF(LatestDevMonth)</a:t>
            </a:r>
          </a:p>
          <a:p>
            <a:pPr>
              <a:defRPr sz="1600"/>
            </a:pPr>
            <a:r>
              <a:t>  • Latest = Most recent cumulative amount for each cohort</a:t>
            </a:r>
          </a:p>
          <a:p>
            <a:pPr>
              <a:defRPr sz="1600"/>
            </a:pPr>
            <a:endParaRPr/>
          </a:p>
          <a:p>
            <a:pPr>
              <a:defRPr sz="1600"/>
            </a:pPr>
            <a:r>
              <a:t>IBNR Calculation:</a:t>
            </a:r>
          </a:p>
          <a:p>
            <a:pPr>
              <a:defRPr sz="1600"/>
            </a:pPr>
            <a:r>
              <a:t>  • IBNR = Ultimate - Latest</a:t>
            </a:r>
          </a:p>
          <a:p>
            <a:pPr>
              <a:defRPr sz="1600"/>
            </a:pPr>
            <a:r>
              <a:t>  • Represents additional reserves needed</a:t>
            </a:r>
          </a:p>
          <a:p>
            <a:pPr>
              <a:defRPr sz="1600"/>
            </a:pPr>
            <a:endParaRPr/>
          </a:p>
          <a:p>
            <a:pPr>
              <a:defRPr sz="1600"/>
            </a:pPr>
            <a:r>
              <a:t>Maturity: Percent Developed = (Latest / Ultimate) × 100</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200"/>
            </a:pPr>
            <a:r>
              <a:t>Chain Ladder Results - Key Findings</a:t>
            </a:r>
          </a:p>
        </p:txBody>
      </p:sp>
      <p:sp>
        <p:nvSpPr>
          <p:cNvPr id="3" name="Content Placeholder 2"/>
          <p:cNvSpPr>
            <a:spLocks noGrp="1"/>
          </p:cNvSpPr>
          <p:nvPr>
            <p:ph idx="1"/>
          </p:nvPr>
        </p:nvSpPr>
        <p:spPr/>
        <p:txBody>
          <a:bodyPr/>
          <a:lstStyle/>
          <a:p>
            <a:pPr>
              <a:defRPr sz="1600"/>
            </a:pPr>
            <a:r>
              <a:t>Total Reported Claims: $502.6 Million</a:t>
            </a:r>
          </a:p>
          <a:p>
            <a:pPr>
              <a:defRPr sz="1600"/>
            </a:pPr>
            <a:r>
              <a:t>Total Ultimate Claims: $520.4 Million</a:t>
            </a:r>
          </a:p>
          <a:p>
            <a:pPr>
              <a:defRPr sz="1600"/>
            </a:pPr>
            <a:r>
              <a:t>Total IBNR Reserve: $17.8 Million (3.55% of reported)</a:t>
            </a:r>
          </a:p>
          <a:p>
            <a:pPr>
              <a:defRPr sz="1600"/>
            </a:pPr>
            <a:r>
              <a:t>Average Development Maturity: 93.21%</a:t>
            </a:r>
          </a:p>
          <a:p>
            <a:pPr>
              <a:defRPr sz="1600"/>
            </a:pPr>
            <a:endParaRPr/>
          </a:p>
          <a:p>
            <a:pPr>
              <a:defRPr sz="1600"/>
            </a:pPr>
            <a:r>
              <a:t>Analysis Coverage:</a:t>
            </a:r>
          </a:p>
          <a:p>
            <a:pPr>
              <a:defRPr sz="1600"/>
            </a:pPr>
            <a:r>
              <a:t>  • Accident Years: 24 years (2002-2025)</a:t>
            </a:r>
          </a:p>
          <a:p>
            <a:pPr>
              <a:defRPr sz="1600"/>
            </a:pPr>
            <a:r>
              <a:t>  • Development Periods: 282 months</a:t>
            </a:r>
          </a:p>
          <a:p>
            <a:pPr>
              <a:defRPr sz="1600"/>
            </a:pPr>
            <a:r>
              <a:t>  • Number of Claims: 3,412 records</a:t>
            </a:r>
          </a:p>
          <a:p>
            <a:pPr>
              <a:defRPr sz="1600"/>
            </a:pPr>
            <a:endParaRPr/>
          </a:p>
          <a:p>
            <a:pPr>
              <a:defRPr sz="1600"/>
            </a:pPr>
            <a:r>
              <a:t>Statistical Validation:</a:t>
            </a:r>
          </a:p>
          <a:p>
            <a:pPr>
              <a:defRPr sz="1600"/>
            </a:pPr>
            <a:r>
              <a:t>  • Bootstrap confidence intervals (1,000 resamples)</a:t>
            </a:r>
          </a:p>
          <a:p>
            <a:pPr>
              <a:defRPr sz="1600"/>
            </a:pPr>
            <a:r>
              <a:t>  • p-value &lt; 0.05 for trend significance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457200"/>
          </a:xfrm>
          <a:prstGeom prst="rect">
            <a:avLst/>
          </a:prstGeom>
          <a:noFill/>
        </p:spPr>
        <p:txBody>
          <a:bodyPr wrap="none">
            <a:spAutoFit/>
          </a:bodyPr>
          <a:lstStyle/>
          <a:p>
            <a:pPr algn="ctr">
              <a:defRPr sz="2400" b="1"/>
            </a:pPr>
            <a:r>
              <a:t>Ultimate Claims Projection by Accident Year</a:t>
            </a:r>
          </a:p>
        </p:txBody>
      </p:sp>
      <p:pic>
        <p:nvPicPr>
          <p:cNvPr id="3" name="Picture 2" descr="forecast_projection.png"/>
          <p:cNvPicPr>
            <a:picLocks noChangeAspect="1"/>
          </p:cNvPicPr>
          <p:nvPr/>
        </p:nvPicPr>
        <p:blipFill>
          <a:blip r:embed="rId3"/>
          <a:stretch>
            <a:fillRect/>
          </a:stretch>
        </p:blipFill>
        <p:spPr>
          <a:xfrm>
            <a:off x="914400" y="1097280"/>
            <a:ext cx="7315200" cy="547104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457200"/>
          </a:xfrm>
          <a:prstGeom prst="rect">
            <a:avLst/>
          </a:prstGeom>
          <a:noFill/>
        </p:spPr>
        <p:txBody>
          <a:bodyPr wrap="none">
            <a:spAutoFit/>
          </a:bodyPr>
          <a:lstStyle/>
          <a:p>
            <a:pPr algn="ctr">
              <a:defRPr sz="2400" b="1"/>
            </a:pPr>
            <a:r>
              <a:t>Executive Summary Dashboard</a:t>
            </a:r>
          </a:p>
        </p:txBody>
      </p:sp>
      <p:pic>
        <p:nvPicPr>
          <p:cNvPr id="3" name="Picture 2" descr="executive_summary.png"/>
          <p:cNvPicPr>
            <a:picLocks noChangeAspect="1"/>
          </p:cNvPicPr>
          <p:nvPr/>
        </p:nvPicPr>
        <p:blipFill>
          <a:blip r:embed="rId3"/>
          <a:stretch>
            <a:fillRect/>
          </a:stretch>
        </p:blipFill>
        <p:spPr>
          <a:xfrm>
            <a:off x="914400" y="1097280"/>
            <a:ext cx="7315200" cy="520262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457200"/>
          </a:xfrm>
          <a:prstGeom prst="rect">
            <a:avLst/>
          </a:prstGeom>
          <a:noFill/>
        </p:spPr>
        <p:txBody>
          <a:bodyPr wrap="none">
            <a:spAutoFit/>
          </a:bodyPr>
          <a:lstStyle/>
          <a:p>
            <a:pPr algn="ctr">
              <a:defRPr sz="2400" b="1"/>
            </a:pPr>
            <a:r>
              <a:t>IBNR Reserve Emergence Pattern</a:t>
            </a:r>
          </a:p>
        </p:txBody>
      </p:sp>
      <p:pic>
        <p:nvPicPr>
          <p:cNvPr id="3" name="Picture 2" descr="ibnr_emergence.png"/>
          <p:cNvPicPr>
            <a:picLocks noChangeAspect="1"/>
          </p:cNvPicPr>
          <p:nvPr/>
        </p:nvPicPr>
        <p:blipFill>
          <a:blip r:embed="rId3"/>
          <a:stretch>
            <a:fillRect/>
          </a:stretch>
        </p:blipFill>
        <p:spPr>
          <a:xfrm>
            <a:off x="914400" y="1097280"/>
            <a:ext cx="7315200" cy="415301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8229600" cy="457200"/>
          </a:xfrm>
          <a:prstGeom prst="rect">
            <a:avLst/>
          </a:prstGeom>
          <a:noFill/>
        </p:spPr>
        <p:txBody>
          <a:bodyPr wrap="none">
            <a:spAutoFit/>
          </a:bodyPr>
          <a:lstStyle/>
          <a:p>
            <a:pPr algn="ctr">
              <a:defRPr sz="2400" b="1"/>
            </a:pPr>
            <a:r>
              <a:t>Calendar Year Reserve Projection</a:t>
            </a:r>
          </a:p>
        </p:txBody>
      </p:sp>
      <p:pic>
        <p:nvPicPr>
          <p:cNvPr id="3" name="Picture 2" descr="calendar_year_projection.png"/>
          <p:cNvPicPr>
            <a:picLocks noChangeAspect="1"/>
          </p:cNvPicPr>
          <p:nvPr/>
        </p:nvPicPr>
        <p:blipFill>
          <a:blip r:embed="rId3"/>
          <a:stretch>
            <a:fillRect/>
          </a:stretch>
        </p:blipFill>
        <p:spPr>
          <a:xfrm>
            <a:off x="914400" y="1097280"/>
            <a:ext cx="7315200" cy="547794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200"/>
            </a:pPr>
            <a:r>
              <a:t>Final Report &amp; Documentation</a:t>
            </a:r>
          </a:p>
        </p:txBody>
      </p:sp>
      <p:sp>
        <p:nvSpPr>
          <p:cNvPr id="3" name="Content Placeholder 2"/>
          <p:cNvSpPr>
            <a:spLocks noGrp="1"/>
          </p:cNvSpPr>
          <p:nvPr>
            <p:ph idx="1"/>
          </p:nvPr>
        </p:nvSpPr>
        <p:spPr/>
        <p:txBody>
          <a:bodyPr/>
          <a:lstStyle/>
          <a:p>
            <a:pPr>
              <a:defRPr sz="1600"/>
            </a:pPr>
            <a:r>
              <a:rPr dirty="0"/>
              <a:t>Deliverables Created:</a:t>
            </a:r>
          </a:p>
          <a:p>
            <a:pPr>
              <a:defRPr sz="1600"/>
            </a:pPr>
            <a:r>
              <a:rPr dirty="0"/>
              <a:t>  • Comprehensive analysis report (1,000+ words with code references)</a:t>
            </a:r>
          </a:p>
          <a:p>
            <a:pPr>
              <a:defRPr sz="1600"/>
            </a:pPr>
            <a:r>
              <a:rPr dirty="0"/>
              <a:t>  • Monthly triangle Excel workbook with projections</a:t>
            </a:r>
          </a:p>
          <a:p>
            <a:pPr>
              <a:defRPr sz="1600"/>
            </a:pPr>
            <a:r>
              <a:rPr dirty="0"/>
              <a:t>  • </a:t>
            </a:r>
            <a:r>
              <a:rPr lang="en-GB" dirty="0"/>
              <a:t>Produced</a:t>
            </a:r>
            <a:r>
              <a:rPr dirty="0"/>
              <a:t> EDA visualizations </a:t>
            </a:r>
            <a:endParaRPr lang="en-GB" dirty="0"/>
          </a:p>
          <a:p>
            <a:pPr>
              <a:defRPr sz="1600"/>
            </a:pPr>
            <a:r>
              <a:rPr lang="en-US" dirty="0"/>
              <a:t> </a:t>
            </a:r>
            <a:r>
              <a:rPr dirty="0"/>
              <a:t>•  projection dashboards for stakeholders</a:t>
            </a:r>
          </a:p>
          <a:p>
            <a:pPr>
              <a:defRPr sz="1600"/>
            </a:pPr>
            <a:r>
              <a:rPr dirty="0"/>
              <a:t>  • Data quality report with 85.7% score</a:t>
            </a:r>
          </a:p>
          <a:p>
            <a:pPr>
              <a:defRPr sz="1600"/>
            </a:pPr>
            <a:r>
              <a:rPr dirty="0"/>
              <a:t>  • Python codebase on GitHub with version control</a:t>
            </a:r>
          </a:p>
          <a:p>
            <a:pPr>
              <a:defRPr sz="1600"/>
            </a:pPr>
            <a:endParaRPr dirty="0"/>
          </a:p>
          <a:p>
            <a:pPr>
              <a:defRPr sz="1600"/>
            </a:pPr>
            <a:r>
              <a:rPr dirty="0"/>
              <a:t>Documentation:</a:t>
            </a:r>
          </a:p>
          <a:p>
            <a:pPr>
              <a:defRPr sz="1600"/>
            </a:pPr>
            <a:r>
              <a:rPr dirty="0"/>
              <a:t>  • TFS Work Item PBI</a:t>
            </a:r>
            <a:r>
              <a:rPr lang="en-GB" dirty="0"/>
              <a:t> </a:t>
            </a:r>
            <a:r>
              <a:rPr dirty="0"/>
              <a:t>with full audit trail</a:t>
            </a:r>
          </a:p>
          <a:p>
            <a:pPr>
              <a:defRPr sz="1600"/>
            </a:pPr>
            <a:r>
              <a:rPr dirty="0"/>
              <a:t>  • </a:t>
            </a:r>
            <a:r>
              <a:rPr lang="en-GB" dirty="0"/>
              <a:t>TFS Work Item PBI  </a:t>
            </a:r>
            <a:r>
              <a:rPr dirty="0"/>
              <a:t>for data quality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200"/>
            </a:pPr>
            <a:r>
              <a:t>Business Impact &amp; Value Delivered</a:t>
            </a:r>
          </a:p>
        </p:txBody>
      </p:sp>
      <p:sp>
        <p:nvSpPr>
          <p:cNvPr id="3" name="Content Placeholder 2"/>
          <p:cNvSpPr>
            <a:spLocks noGrp="1"/>
          </p:cNvSpPr>
          <p:nvPr>
            <p:ph idx="1"/>
          </p:nvPr>
        </p:nvSpPr>
        <p:spPr/>
        <p:txBody>
          <a:bodyPr/>
          <a:lstStyle/>
          <a:p>
            <a:pPr>
              <a:defRPr sz="1600"/>
            </a:pPr>
            <a:r>
              <a:rPr dirty="0"/>
              <a:t>Financial Impact:</a:t>
            </a:r>
          </a:p>
          <a:p>
            <a:pPr>
              <a:defRPr sz="1600"/>
            </a:pPr>
            <a:r>
              <a:rPr dirty="0"/>
              <a:t>  • Identified $17.8M IBNR deficiency (3.55% of reported)</a:t>
            </a:r>
          </a:p>
          <a:p>
            <a:pPr>
              <a:defRPr sz="1600"/>
            </a:pPr>
            <a:r>
              <a:rPr dirty="0"/>
              <a:t>  • Enabled accurate monthly reserve adjustments vs. annual only</a:t>
            </a:r>
          </a:p>
          <a:p>
            <a:pPr>
              <a:defRPr sz="1600"/>
            </a:pPr>
            <a:r>
              <a:rPr dirty="0"/>
              <a:t>  • Improved capital allocation efficiency</a:t>
            </a:r>
          </a:p>
          <a:p>
            <a:pPr>
              <a:defRPr sz="1600"/>
            </a:pPr>
            <a:endParaRPr dirty="0"/>
          </a:p>
          <a:p>
            <a:pPr>
              <a:defRPr sz="1600"/>
            </a:pPr>
            <a:r>
              <a:rPr dirty="0"/>
              <a:t>Process Improvements:</a:t>
            </a:r>
          </a:p>
          <a:p>
            <a:pPr>
              <a:defRPr sz="1600"/>
            </a:pPr>
            <a:r>
              <a:rPr dirty="0"/>
              <a:t>  • Automated pipeline</a:t>
            </a:r>
            <a:endParaRPr lang="en-GB" dirty="0"/>
          </a:p>
          <a:p>
            <a:pPr>
              <a:defRPr sz="1600"/>
            </a:pPr>
            <a:r>
              <a:rPr dirty="0"/>
              <a:t>  • Reproducible: Single command regenerates full analysis</a:t>
            </a:r>
          </a:p>
          <a:p>
            <a:pPr>
              <a:defRPr sz="1600"/>
            </a:pPr>
            <a:r>
              <a:rPr dirty="0"/>
              <a:t>  • Audit trails: GitHub commits, TFS tracking, ServiceNow incidents</a:t>
            </a:r>
          </a:p>
          <a:p>
            <a:pPr>
              <a:defRPr sz="1600"/>
            </a:pPr>
            <a:endParaRPr dirty="0"/>
          </a:p>
          <a:p>
            <a:pPr>
              <a:defRPr sz="1600"/>
            </a:pPr>
            <a:r>
              <a:rPr dirty="0"/>
              <a:t>Regulatory Compliance:</a:t>
            </a:r>
          </a:p>
          <a:p>
            <a:pPr>
              <a:defRPr sz="1600"/>
            </a:pPr>
            <a:r>
              <a:rPr dirty="0"/>
              <a:t>  • PRA-compliant methodology with statistical validation</a:t>
            </a:r>
          </a:p>
          <a:p>
            <a:pPr>
              <a:defRPr sz="1600"/>
            </a:pPr>
            <a:r>
              <a:rPr dirty="0"/>
              <a:t>  • Bootstrap confidence intervals demonstrate robustness</a:t>
            </a:r>
          </a:p>
          <a:p>
            <a:pPr>
              <a:defRPr sz="1600"/>
            </a:pPr>
            <a:endParaRPr dirty="0"/>
          </a:p>
          <a:p>
            <a:pPr>
              <a:defRPr sz="1600"/>
            </a:pPr>
            <a:r>
              <a:rPr dirty="0"/>
              <a:t>Cost: £0 incremental (leveraged existing tools and infrastructure)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200"/>
            </a:pPr>
            <a:r>
              <a:t>Conclusions &amp; Recommendations</a:t>
            </a:r>
          </a:p>
        </p:txBody>
      </p:sp>
      <p:sp>
        <p:nvSpPr>
          <p:cNvPr id="3" name="Content Placeholder 2"/>
          <p:cNvSpPr>
            <a:spLocks noGrp="1"/>
          </p:cNvSpPr>
          <p:nvPr>
            <p:ph idx="1"/>
          </p:nvPr>
        </p:nvSpPr>
        <p:spPr/>
        <p:txBody>
          <a:bodyPr/>
          <a:lstStyle/>
          <a:p>
            <a:pPr>
              <a:defRPr sz="1600"/>
            </a:pPr>
            <a:r>
              <a:t>Summary:</a:t>
            </a:r>
          </a:p>
          <a:p>
            <a:pPr>
              <a:defRPr sz="1600"/>
            </a:pPr>
            <a:r>
              <a:t>  ✓ Successfully implemented monthly Chain Ladder model</a:t>
            </a:r>
          </a:p>
          <a:p>
            <a:pPr>
              <a:defRPr sz="1600"/>
            </a:pPr>
            <a:r>
              <a:t>  ✓ Integrated data from 3 source systems via validated ETL</a:t>
            </a:r>
          </a:p>
          <a:p>
            <a:pPr>
              <a:defRPr sz="1600"/>
            </a:pPr>
            <a:r>
              <a:t>  ✓ Applied dual-method outlier detection (IQR + Z-score)</a:t>
            </a:r>
          </a:p>
          <a:p>
            <a:pPr>
              <a:defRPr sz="1600"/>
            </a:pPr>
            <a:r>
              <a:t>  ✓ Identified $17.8M IBNR with 93.21% maturity</a:t>
            </a:r>
          </a:p>
          <a:p>
            <a:pPr>
              <a:defRPr sz="1600"/>
            </a:pPr>
            <a:r>
              <a:t>  ✓ Delivered reproducible Python pipeline on GitHub</a:t>
            </a:r>
          </a:p>
          <a:p>
            <a:pPr>
              <a:defRPr sz="1600"/>
            </a:pPr>
            <a:endParaRPr/>
          </a:p>
          <a:p>
            <a:pPr>
              <a:defRPr sz="1600"/>
            </a:pPr>
            <a:r>
              <a:t>Recommendations:</a:t>
            </a:r>
          </a:p>
          <a:p>
            <a:pPr>
              <a:defRPr sz="1600"/>
            </a:pPr>
            <a:r>
              <a:t>  • Integrate into monthly financial close process</a:t>
            </a:r>
          </a:p>
          <a:p>
            <a:pPr>
              <a:defRPr sz="1600"/>
            </a:pPr>
            <a:r>
              <a:t>  • Extend methodology to other lines of business</a:t>
            </a:r>
          </a:p>
          <a:p>
            <a:pPr>
              <a:defRPr sz="1600"/>
            </a:pPr>
            <a:r>
              <a:t>  • Implement sensitivity analysis for stressed scenarios</a:t>
            </a:r>
          </a:p>
          <a:p>
            <a:pPr>
              <a:defRPr sz="1600"/>
            </a:pPr>
            <a:r>
              <a:t>  • Enhance tail factor with machine learning approaches</a:t>
            </a:r>
          </a:p>
          <a:p>
            <a:pPr>
              <a:defRPr sz="1600"/>
            </a:pPr>
            <a:endParaRPr/>
          </a:p>
          <a:p>
            <a:pPr>
              <a:defRPr sz="1600"/>
            </a:pPr>
            <a:r>
              <a:t>Thank you -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2416</Words>
  <Application>Microsoft Office PowerPoint</Application>
  <PresentationFormat>On-screen Show (4:3)</PresentationFormat>
  <Paragraphs>218</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Comprehensive Analysis Workflow</vt:lpstr>
      <vt:lpstr>Presentation Agenda</vt:lpstr>
      <vt:lpstr>Business Requirements Gathering</vt:lpstr>
      <vt:lpstr>Stakeholder Engagement</vt:lpstr>
      <vt:lpstr>ETL Phase 0: Data Sourcing from 3 Systems</vt:lpstr>
      <vt:lpstr>ETL Extraction &amp; Persistent Staging Area</vt:lpstr>
      <vt:lpstr>Data Quality Issue Detection &amp; Resolution</vt:lpstr>
      <vt:lpstr>Exploratory Data Analysis (EDA) Overview</vt:lpstr>
      <vt:lpstr>PowerPoint Presentation</vt:lpstr>
      <vt:lpstr>PowerPoint Presentation</vt:lpstr>
      <vt:lpstr>PowerPoint Presentation</vt:lpstr>
      <vt:lpstr>PowerPoint Presentation</vt:lpstr>
      <vt:lpstr>Triangle Construction Methodology</vt:lpstr>
      <vt:lpstr>PowerPoint Presentation</vt:lpstr>
      <vt:lpstr>Development Factor Calculation</vt:lpstr>
      <vt:lpstr>Chain Ladder Projection Methodology</vt:lpstr>
      <vt:lpstr>Chain Ladder Results - Key Findings</vt:lpstr>
      <vt:lpstr>PowerPoint Presentation</vt:lpstr>
      <vt:lpstr>PowerPoint Presentation</vt:lpstr>
      <vt:lpstr>PowerPoint Presentation</vt:lpstr>
      <vt:lpstr>PowerPoint Presentation</vt:lpstr>
      <vt:lpstr>Final Report &amp; Documentation</vt:lpstr>
      <vt:lpstr>Business Impact &amp; Value Delivered</vt:lpstr>
      <vt:lpstr>Conclusions &amp; Recommendations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Alok Jha</cp:lastModifiedBy>
  <cp:revision>4</cp:revision>
  <dcterms:created xsi:type="dcterms:W3CDTF">2013-01-27T09:14:16Z</dcterms:created>
  <dcterms:modified xsi:type="dcterms:W3CDTF">2025-11-02T12:15:57Z</dcterms:modified>
  <cp:category/>
</cp:coreProperties>
</file>